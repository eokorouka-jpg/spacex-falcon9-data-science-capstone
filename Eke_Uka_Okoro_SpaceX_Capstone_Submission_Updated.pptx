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Winning the Space Race with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768C6"/>
                </a:solidFill>
              </a:defRPr>
            </a:pPr>
            <a:r>
              <a:t>SpaceX Falcon 9 first-stage landing prediction | Capstone technical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A1932"/>
                </a:solidFill>
              </a:defRPr>
            </a:pPr>
            <a:r>
              <a:t>From raw launch records to interactive analytics and predictive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53142"/>
                </a:solidFill>
              </a:defRPr>
            </a:pPr>
            <a:r>
              <a:t>Eke Uka Okoro</a:t>
            </a:r>
          </a:p>
          <a:p>
            <a:pPr>
              <a:spcAft>
                <a:spcPts val="1200"/>
              </a:spcAft>
              <a:defRPr sz="2300" b="0">
                <a:solidFill>
                  <a:srgbClr val="253142"/>
                </a:solidFill>
              </a:defRPr>
            </a:pPr>
            <a:r>
              <a:t>14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768C6"/>
                </a:solidFill>
              </a:defRPr>
            </a:pPr>
            <a:r>
              <a:t>GitHub project: github.com/eokorouka-jpg/SpaceX-Falcon9-Data-Science-Capstone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768C6"/>
                </a:solidFill>
              </a:defRPr>
            </a:pPr>
            <a:r>
              <a:t>What we investigated and 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Goal: estimate the likelihood that a Falcon 9 first stage lands successfully.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10607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Prepared 90 labelled launches; 60 successful and 30 unsuccessful (66.7% success).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10607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Explored flight history, orbit, payload, launch site, geography and booster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10607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Compared four tuned classifiers on 18 held-out flights.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607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Best observed test accuracy: 83.33% — Logistic Regression, SVM and KNN (tie).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Business problem and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53142"/>
                </a:solidFill>
              </a:defRPr>
            </a:pPr>
            <a:r>
              <a:t>•  Reusable boosters can reduce launch costs, so predicting landing outcomes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53142"/>
                </a:solidFill>
              </a:defRPr>
            </a:pPr>
            <a:r>
              <a:t>•  Which launch sites, orbits and payload ranges are associated with landing success?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9544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53142"/>
                </a:solidFill>
              </a:defRPr>
            </a:pPr>
            <a:r>
              <a:t>•  How do outcomes change over flight history?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14216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53142"/>
                </a:solidFill>
              </a:defRPr>
            </a:pPr>
            <a:r>
              <a:t>•  Can supervised learning predict a landing from pre-landing launch characteristics?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18888"/>
            <a:ext cx="10607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53142"/>
                </a:solidFill>
              </a:defRPr>
            </a:pPr>
            <a:r>
              <a:t>•  How reliably do results generalize beyond this small historical sample?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End-to-end data science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768C6"/>
                </a:solidFill>
              </a:defRPr>
            </a:pPr>
            <a:r>
              <a:t>Evidence across collection, wrangling, exploration and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05740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17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1932"/>
                </a:solidFill>
              </a:defRPr>
            </a:pPr>
            <a:r>
              <a:t>API / Wikipedia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2331720"/>
            <a:ext cx="205740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17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6517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1932"/>
                </a:solidFill>
              </a:defRPr>
            </a:pPr>
            <a:r>
              <a:t>Clean + label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331720"/>
            <a:ext cx="205740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17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6517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1932"/>
                </a:solidFill>
              </a:defRPr>
            </a:pPr>
            <a:r>
              <a:t>SQL + EDA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19" y="2331720"/>
            <a:ext cx="205740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17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26517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1932"/>
                </a:solidFill>
              </a:defRPr>
            </a:pPr>
            <a:r>
              <a:t>Folium + Dash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2331720"/>
            <a:ext cx="2057400" cy="1143000"/>
          </a:xfrm>
          <a:prstGeom prst="roundRect">
            <a:avLst/>
          </a:prstGeom>
          <a:solidFill>
            <a:srgbClr val="EEF4FA"/>
          </a:solidFill>
          <a:ln>
            <a:solidFill>
              <a:srgbClr val="176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651760"/>
            <a:ext cx="1901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A1932"/>
                </a:solidFill>
              </a:defRPr>
            </a:pPr>
            <a:r>
              <a:t>ML +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53142"/>
                </a:solidFill>
              </a:defRPr>
            </a:pPr>
            <a:r>
              <a:t>Python • pandas • SQL • seaborn/matplotlib • Folium • Plotly Dash • scikit-learn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Data collection: SpaceX API and Wikipedia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API lab: retrieve SpaceX launch JSON and expand rocket, payload, core and launchpad 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070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Wikipedia lab: use BeautifulSoup to extract Falcon 9 launch-table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106070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The saved web-scraping notebook shows an HTTP 403 response in one run; do not treat that blocked attempt as successful scraping.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106070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Data sources and intermediate CSV files should be committed with their notebooks.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Data wrangling and target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Filtered to 90 Falcon 9 launches with a binary landing label.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32304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Class = 1: successful first-stage landing; Class = 0: otherwise.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Imputed missing payload masses; retained launch site, orbit and booster attributes.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9651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Prepared 80 model features in the completed feature-engineering lab (one-hot encoding).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2861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Dataset_part_2.csv contains the 90 labelled rows; feature and label rows must remain aligned.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Dataset profile: 90 launches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7</a:t>
            </a:r>
          </a:p>
        </p:txBody>
      </p:sp>
      <p:pic>
        <p:nvPicPr>
          <p:cNvPr id="6" name="Picture 5" descr="capstone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Exploratory data analysis: launch-site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8</a:t>
            </a:r>
          </a:p>
        </p:txBody>
      </p:sp>
      <p:pic>
        <p:nvPicPr>
          <p:cNvPr id="6" name="Picture 5" descr="capstone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91640"/>
            <a:ext cx="94183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EDA: landing success by launch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9</a:t>
            </a:r>
          </a:p>
        </p:txBody>
      </p:sp>
      <p:pic>
        <p:nvPicPr>
          <p:cNvPr id="6" name="Picture 5" descr="capstone_site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91640"/>
            <a:ext cx="9601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EDA: landing success by orbit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768C6"/>
                </a:solidFill>
              </a:defRPr>
            </a:pPr>
            <a:r>
              <a:t>Rates are descriptive; some orbit categories contain very few launches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capstone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27632"/>
            <a:ext cx="103327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EDA: landing success across flight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11</a:t>
            </a:r>
          </a:p>
        </p:txBody>
      </p:sp>
      <p:pic>
        <p:nvPicPr>
          <p:cNvPr id="6" name="Picture 5" descr="capston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45920"/>
            <a:ext cx="9326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SQL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2471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768C6"/>
                </a:solidFill>
              </a:defRPr>
            </a:pPr>
            <a:r>
              <a:t>Notebook evidence and key analytical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SQL lab uses a local SQLite database to query Falcon 9 launch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1060704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Analytical tasks include launch sites, payload mass, booster versions, landing outcomes and 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57016"/>
            <a:ext cx="1060704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The submitted SQL notebook contains query execution, but its saved outputs are not sufficient to verify every requested numeric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35424"/>
            <a:ext cx="1060704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For reproducibility, upload the SQL notebook and database/CSV inputs, then rerun all queries before submission.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Folium: geographic analysis of launch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Mapped launch-site coordinates and annotated their locations.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32304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Used outcome-coloured markers and MarkerCluster to explore successful and unsuccessful landings.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Geographic context helps assess coastal proximity and differences between launch sites.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9651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Distance-to-city/rail/highway sections require verified destination coordinates; do not report unsupported distances.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2861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The interactive HTML map/notebook should be included in GitHub.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Plotly Dash: an interactive landing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Built and ran a working local Dash app at http://127.0.0.1:8050/.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9736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Launch-site dropdown updates the successful-landing pie chart.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9272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Payload-range slider filters a scatter plot; booster versions provide additional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78808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Dashboard lab uses a separate 56-row dataset — its percentages must not be mixed with the 90-row modelling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38344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Commit spacex-dash-app.py, its source CSV and a screenshot of the running dashboard.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Dashboard findings: 56-launch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KSC LC-39A: 10 successful landings in 13 launches (76.92%).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32304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Best observed payload band: 2,000–4,000 kg (61.90% landing success).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6,000–8,000 kg: 0% observed success in this small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9651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Booster B5: 100% observed success, but based on only one flight — not a robust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2861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These findings describe the dashboard dataset, not the full 90-flight modelling dataset.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Predictive methodology: reproducible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Target Y: Class; predictors X: encoded and standardized launch attributes.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Train/test split: 80% training (72 flights), 20% test (18 flights), random_state =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82696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GridSearchCV with 10-fold cross-validation selects model hyperparameters.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23944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Models: Logistic Regression, Support Vector Machine, Decision Tree and KNN.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5192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53142"/>
                </a:solidFill>
              </a:defRPr>
            </a:pPr>
            <a:r>
              <a:t>•  Test accuracy and confusion matrices assess out-of-sample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Model comparison: held-out test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17</a:t>
            </a:r>
          </a:p>
        </p:txBody>
      </p:sp>
      <p:pic>
        <p:nvPicPr>
          <p:cNvPr id="6" name="Picture 5" descr="capston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00200"/>
            <a:ext cx="96012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Confusion matrices: what the predictions missed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Logistic Regression, SVM and KNN: 12 true positives, 3 true negatives, 3 false positives, 0 false negatives.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32304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Each correctly classified 15 of 18 held-out flights (83.33%).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Decision Tree: 11 true positives, 3 true negatives, 3 false positives, 1 false negative.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96512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Decision Tree correctly classified 14 of 18 flights (77.78%).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28616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Main error pattern: predicting a landing when the booster did not land (false positive).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Interpretation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Flight history, launch site, orbit and payload show useful associations with landing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A three-way model tie means no single best model can be established from accuracy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82696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Only 18 test launches: one additional mistake changes accuracy by 5.56 percentage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23944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Model features were standardized before the split in the lab; a production-quality rerun should fit scaling on training data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5192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Historical observational patterns do not prove causality or future operational reliability.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Conclusions and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Built a complete analytical workflow from collection and cleaning to interactive dashboards and 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Landing success improved over the historical flight sequence in the 90-launch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82696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Three classifiers tied at 83.33% on the 18-launch test set; inspect false positives before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23944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Next steps: collect more recent flights, avoid data leakage, compare precision/recall and calibrate predicted probabilities.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5192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Use the dashboard for exploration, not as a validated real-time prediction service.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GitHub portfolio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Project repository: https://github.com/eokorouka-jpg/SpaceX-Falcon9-Data-Science-Capstone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9736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Public repository created: SpaceX-Falcon9-Data-Science-Capstone.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9272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Repository contains the API, Wikipedia, SQL, EDA, Folium and machine-learning notebooks.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78808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CSV inputs, README.md and the PDF report have been uploaded; verify dashboard scripts and screenshots.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38344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Keep source data, figures and notebook outputs organised so a reviewer can reproduce the work.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Grading checklist: 15-point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Included: executive summary, introduction and data collection/wrangling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86584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Included: EDA visualisations, SQL methodology, Folium and Dash analytics.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7296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Included: predictive modelling methodology, tuned-model results and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5935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Included: original figures, limitations, comparative insights and direct GitHub repository link.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45736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Before submission: verify SQL/map evidence and ensure the uploaded PDF matches this revised version.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53142"/>
                </a:solidFill>
              </a:defRPr>
            </a:pPr>
            <a:r>
              <a:t>•  Submit the accompanying PDF as the assessed presentation.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76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A1932"/>
                </a:solidFill>
              </a:defRPr>
            </a:pPr>
            <a:r>
              <a:t>Appendix: source files and dataset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88B"/>
                </a:solidFill>
              </a:defRPr>
            </a:pPr>
            <a:r>
              <a:t>Eke Uka Okoro  |  IBM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9788B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53142"/>
                </a:solidFill>
              </a:defRPr>
            </a:pPr>
            <a:r>
              <a:t>•  dataset_part_2.csv — 90 rows × 18 columns; labelled modelling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1343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53142"/>
                </a:solidFill>
              </a:defRPr>
            </a:pPr>
            <a:r>
              <a:t>•  Model feature matrix — 90 rows × 80 encoded predictors (as shown in the completed lab).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2666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53142"/>
                </a:solidFill>
              </a:defRPr>
            </a:pPr>
            <a:r>
              <a:t>•  spacex-dash-app.py — interactive Dash dashboard; 56-row dashboard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3989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53142"/>
                </a:solidFill>
              </a:defRPr>
            </a:pPr>
            <a:r>
              <a:t>•  jupyter-labs-eda-sql-coursera_sqllite.ipynb — SQL lab.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531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53142"/>
                </a:solidFill>
              </a:defRPr>
            </a:pPr>
            <a:r>
              <a:t>•  jupyter-labs-webscraping.ipynb — Wikipedia scraping lab.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6636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53142"/>
                </a:solidFill>
              </a:defRPr>
            </a:pPr>
            <a:r>
              <a:t>•  lab_jupyter_launch_site_location.ipynb — Folium geographic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