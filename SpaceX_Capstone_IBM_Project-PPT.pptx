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82" r:id="rId33"/>
    <p:sldId id="262" r:id="rId13"/>
    <p:sldId id="263" r:id="rId14"/>
    <p:sldId id="264" r:id="rId15"/>
    <p:sldId id="265" r:id="rId16"/>
    <p:sldId id="285" r:id="rId36"/>
    <p:sldId id="286" r:id="rId37"/>
    <p:sldId id="266" r:id="rId17"/>
    <p:sldId id="283" r:id="rId34"/>
    <p:sldId id="284" r:id="rId35"/>
    <p:sldId id="267" r:id="rId18"/>
    <p:sldId id="268" r:id="rId19"/>
    <p:sldId id="288" r:id="rId39"/>
    <p:sldId id="287" r:id="rId38"/>
    <p:sldId id="269" r:id="rId20"/>
    <p:sldId id="270" r:id="rId21"/>
    <p:sldId id="271" r:id="rId22"/>
    <p:sldId id="272" r:id="rId23"/>
    <p:sldId id="280" r:id="rId31"/>
    <p:sldId id="281" r:id="rId32"/>
    <p:sldId id="273" r:id="rId24"/>
    <p:sldId id="289" r:id="rId40"/>
    <p:sldId id="290" r:id="rId41"/>
    <p:sldId id="274" r:id="rId25"/>
    <p:sldId id="291" r:id="rId42"/>
    <p:sldId id="292" r:id="rId43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4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7.xml"/><Relationship Id="rId25" Type="http://schemas.openxmlformats.org/officeDocument/2006/relationships/slide" Target="slides/slide30.xml"/><Relationship Id="rId26" Type="http://schemas.openxmlformats.org/officeDocument/2006/relationships/slide" Target="slides/slide33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7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20.xml"/><Relationship Id="rId39" Type="http://schemas.openxmlformats.org/officeDocument/2006/relationships/slide" Target="slides/slide19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spacex-data-collection-api.ipynb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edadataviz.ipynb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github.com/eokorouka-jpg/SpaceX-Falcon9-Data-Science-Capstone/blob/main/edadataviz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github.com/eokorouka-jpg/SpaceX-Falcon9-Data-Science-Capstone/blob/main/edadataviz.ipynb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eda-sql-coursera_sqllite_Eke_Okoro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jupyter-labs-eda-sql-coursera_sqllite_Eke_Okoro.ipynb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lab_jupyter_launch_site_location_Eke_Okoro.ipynb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lab_jupyter_launch_site_location_Eke_Okoro.ipynb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eokorouka-jpg/SpaceX-Falcon9-Data-Science-Capstone/blob/main/SpaceX_Machine%20Learning%20Prediction.ipynb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FALCON 9  /  FIRST-STAGE LANDING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Winning the Space Race with Data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9875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AFD"/>
                </a:solidFill>
                <a:latin typeface="Aptos"/>
              </a:defRPr>
            </a:pPr>
            <a:r>
              <a:t>From raw launch records to geographical intelligence and predictive modelling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10698480" cy="36576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7CD66B"/>
                </a:solidFill>
                <a:latin typeface="Aptos"/>
              </a:defRPr>
            </a:pPr>
            <a:r>
              <a:t>Eke Uka Okoro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7997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IBM Data Science Professional Certificate  •  Capstone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4B4DE"/>
                </a:solidFill>
                <a:latin typeface="Aptos"/>
              </a:defRPr>
            </a:pPr>
            <a:r>
              <a:t>github.com/eokorouka-jpg/SpaceX-Falcon9-Data-Science-Capstone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labelled ML launches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Folium / Dash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3230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best held-out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5844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65576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End-to-end workflow: collection → cleaning → SQL / EDA → mapping → dashboard → classification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29768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78808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Landing success varies across launch sites, payload bands and booster versions in the sampled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0109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892040"/>
            <a:ext cx="1033271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Logistic Regression, SVM and KNN tied on the 18-flight held-out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Business question &amp; analytical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09928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7CD66B"/>
                </a:solidFill>
                <a:latin typeface="Aptos"/>
              </a:defRPr>
            </a:pPr>
            <a:r>
              <a:t>Can historical launch characteristics help explain and predict successful Falcon 9 first-stage landings?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" y="30449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2608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Explore landing outcomes by site, orbit, flight history and payload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68503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Investigate geographical context and transportation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43251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Create interactive tools for filtering and inspecting launches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" y="496519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104241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7FAFD"/>
                </a:solidFill>
                <a:latin typeface="Aptos"/>
              </a:defRPr>
            </a:pPr>
            <a:r>
              <a:t>Compare tuned classifiers and evaluate prediction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Methodology: one connected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SpaceX API + Wikipedia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clean, label, 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3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Python EDA + 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Folium + Plotly Dash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02952" y="2011680"/>
            <a:ext cx="2148840" cy="245059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22037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907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7FAFD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45643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4 tuned classifiers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4B4DE"/>
                </a:solidFill>
                <a:latin typeface="Aptos"/>
              </a:defRPr>
            </a:pPr>
            <a:r>
              <a:t>Python  •  pandas  •  SQL  •  Folium  •  Plotly Dash  •  scikit-learn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Data collection: two complementary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230368" cy="33832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0368" cy="33832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093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7CD66B"/>
                </a:solidFill>
                <a:latin typeface="Aptos"/>
              </a:defRPr>
            </a:pPr>
            <a:r>
              <a:t>SpaceX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288036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761488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Request historical launch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" y="34472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328416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Expand rocket, core, payload and pad 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" y="4014215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895344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Flatten JSON to a structured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939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54B4DE"/>
                </a:solidFill>
                <a:latin typeface="Aptos"/>
              </a:defRPr>
            </a:pPr>
            <a:r>
              <a:t>Wikipedia launch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288036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761488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Inspect HTML tables with BeautifulSoup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34472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328416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Extract booster, launch and mission fields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4014215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895344"/>
            <a:ext cx="4343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One saved attempt returned HTTP 403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509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FB45A"/>
                </a:solidFill>
                <a:latin typeface="Aptos"/>
              </a:defRPr>
            </a:pPr>
            <a:r>
              <a:t>Source note: an HTTP 403 attempt is not presented as a successful scrape.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F7FA"/>
                </a:solidFill>
                <a:latin typeface="Aptos Display"/>
              </a:rPr>
              <a:t>Data wrangling | documented cleaning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104241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8DD16E"/>
                </a:solidFill>
                <a:latin typeface="Aptos"/>
              </a:rPr>
              <a:t>Evidence from the API collection notebook (90 rows x 17 columns)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057400"/>
            <a:ext cx="7086600" cy="239572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58568"/>
            <a:ext cx="6583680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Consolas"/>
              </a:rPr>
              <a:t>print(data_falcon9.isnull().sum())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mean_payload = data_falcon9["PayloadMass"].mean()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data_falcon9["PayloadMass"] = (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    data_falcon9["PayloadMass"]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    .fillna(mean_payload)</a:t>
            </a:r>
            <a:br/>
            <a:r>
              <a:rPr sz="1700" b="0">
                <a:solidFill>
                  <a:srgbClr val="F0F7FA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57400"/>
            <a:ext cx="3383280" cy="239572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76856"/>
            <a:ext cx="2944368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8DD16E"/>
                </a:solidFill>
                <a:latin typeface="Aptos"/>
              </a:rPr>
              <a:t>5 -&gt;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61488"/>
            <a:ext cx="2880360" cy="493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missing PayloadMass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2"/>
            <a:ext cx="2953512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LandingPad remains null when no pad was used (26 values).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18304"/>
            <a:ext cx="1078992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Cleaned file: dataset_part_1_cleaned.csv  |  Source: API notebook, cells 34–35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the cleaning notebook on GitHub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F7FA"/>
                </a:solidFill>
                <a:latin typeface="Aptos Display"/>
              </a:rPr>
              <a:t>Feature engineering | 12 features to 80 predictors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27048"/>
            <a:ext cx="10607040" cy="338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8DD16E"/>
                </a:solidFill>
                <a:latin typeface="Aptos"/>
              </a:rPr>
              <a:t>Evidence from Python EDA &amp; feature engineering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039112"/>
            <a:ext cx="754380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194560"/>
            <a:ext cx="7159752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F0F7FA"/>
                </a:solidFill>
                <a:latin typeface="Consolas"/>
              </a:rPr>
              <a:t>features_one_hot = pd.get_dummies(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features,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columns=["Orbit", "LaunchSite",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             "LandingPad", "Serial"]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)</a:t>
            </a:r>
            <a:br/>
            <a:r>
              <a:rPr sz="1600" b="0">
                <a:solidFill>
                  <a:srgbClr val="F0F7FA"/>
                </a:solidFill>
                <a:latin typeface="Consolas"/>
              </a:rPr>
              <a:t>features_one_hot = features_one_hot.astype("float64")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039112"/>
            <a:ext cx="288036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2231136"/>
            <a:ext cx="24688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8DD16E"/>
                </a:solidFill>
                <a:latin typeface="Aptos"/>
              </a:rPr>
              <a:t>90 x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779776"/>
            <a:ext cx="2487168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original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73552"/>
            <a:ext cx="246888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800" b="1">
                <a:solidFill>
                  <a:srgbClr val="8DD16E"/>
                </a:solidFill>
                <a:latin typeface="Aptos"/>
              </a:rPr>
              <a:t>90 x 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794760"/>
            <a:ext cx="2487168" cy="521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C6D7E4"/>
                </a:solidFill>
                <a:latin typeface="Aptos"/>
              </a:rPr>
              <a:t>encoded features; 0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28032"/>
            <a:ext cx="1065276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All 80 columns converted to float64; dataset_part_3.csv exported.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31536"/>
            <a:ext cx="1065276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the feature-engineering notebook on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Why the dataset sizes differ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38528"/>
            <a:ext cx="329184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3911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Analytical 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1938528"/>
            <a:ext cx="137160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1" y="2039112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1938528"/>
            <a:ext cx="6217920" cy="64008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8112" y="2039112"/>
            <a:ext cx="6080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54B4DE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578608"/>
            <a:ext cx="329184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67462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API / ML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2578608"/>
            <a:ext cx="137160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267462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6672" y="2578608"/>
            <a:ext cx="621792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267462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Model training and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218688"/>
            <a:ext cx="329184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1470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SQL launch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5072" y="3218688"/>
            <a:ext cx="137160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331470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76672" y="3218688"/>
            <a:ext cx="6217920" cy="64008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331470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Structured launch-history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858768"/>
            <a:ext cx="329184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954780"/>
            <a:ext cx="3145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Folium + Dash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3858768"/>
            <a:ext cx="137160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1" y="3954780"/>
            <a:ext cx="12252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76672" y="3858768"/>
            <a:ext cx="6217920" cy="64008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8112" y="3954780"/>
            <a:ext cx="60716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Interactive geographic and dashboard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B45A"/>
                </a:solidFill>
                <a:latin typeface="Aptos"/>
              </a:defRPr>
            </a:pPr>
            <a:r>
              <a:t>These are different lab extracts and should not be combined into a single denominator.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Exploratory analysis: launch-site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CCAFS LC-40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8809" y="197510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8809" y="1975104"/>
            <a:ext cx="1376753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0676" y="190195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26.92%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7462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CCAFS SLC-40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809" y="272948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8809" y="2729484"/>
            <a:ext cx="2191962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0676" y="265633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KSC LC-39A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8809" y="3483864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48809" y="3483864"/>
            <a:ext cx="3933872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80676" y="3410712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83379"/>
            <a:ext cx="3808476" cy="68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VAFB SLC-4E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8809" y="4238243"/>
            <a:ext cx="5114239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48809" y="4238243"/>
            <a:ext cx="2045695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0676" y="4165091"/>
            <a:ext cx="1523390" cy="708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40.00%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29437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AFD"/>
                </a:solidFill>
                <a:latin typeface="Aptos"/>
              </a:defRPr>
            </a:pPr>
            <a:r>
              <a:t>KSC LC-39A: 10 successful landings / 13 launches — strongest observed site in the 56-row sample.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EDA result: launch volume &amp; landing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792224"/>
            <a:ext cx="384048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7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Launch-site label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424" y="1792224"/>
            <a:ext cx="192024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9280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Launches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92224"/>
            <a:ext cx="192024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89280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Successful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1792224"/>
            <a:ext cx="3200400" cy="59436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1892807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Success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238658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48259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CCAFS LC-40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38658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48259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48259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904" y="238658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48259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26.92%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2980944"/>
            <a:ext cx="384048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07695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CCAFS SLC-40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424" y="298094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07695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8094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07695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75904" y="2980944"/>
            <a:ext cx="320040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07695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" y="357530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67131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KSC LC-39A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5424" y="357530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26864" y="367131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7530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367131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357530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367131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4" y="4169664"/>
            <a:ext cx="384048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26567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VAFB SLC-4E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416966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426567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69664"/>
            <a:ext cx="192024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7104" y="426567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75904" y="4169664"/>
            <a:ext cx="3200400" cy="594360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7344" y="426567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40.00%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" y="4764024"/>
            <a:ext cx="384048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860036"/>
            <a:ext cx="3694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5424" y="476402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26864" y="486003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764024"/>
            <a:ext cx="192024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47104" y="4860036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5904" y="4764024"/>
            <a:ext cx="3200400" cy="594360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67344" y="4860036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42.86%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66013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FB45A"/>
                </a:solidFill>
                <a:latin typeface="Aptos"/>
              </a:defRPr>
            </a:pPr>
            <a:r>
              <a:t>Data quality: CCAFS LC-40 and CCAFS SLC-40 are near-duplicate location labels; treat carefully.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EDA: payload mass &amp; booster generations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0–2,000 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1611" y="1792224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1611" y="1792224"/>
            <a:ext cx="117044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8672" y="1719072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23.08%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2,000–4,000 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1611" y="2459736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1611" y="2459736"/>
            <a:ext cx="3139111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2386584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61.90%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72384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4,000–6,000 kg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1611" y="3127248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61611" y="3127248"/>
            <a:ext cx="195040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3054096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38.46%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39896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6,000–8,000 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1611" y="3794759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1611" y="3794759"/>
            <a:ext cx="32004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3721608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7408"/>
            <a:ext cx="3776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8,000–10,000 kg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1611" y="4462272"/>
            <a:ext cx="5071262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1611" y="4462272"/>
            <a:ext cx="3042757" cy="201168"/>
          </a:xfrm>
          <a:prstGeom prst="round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4389120"/>
            <a:ext cx="15105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60.00%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376672"/>
            <a:ext cx="10607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7CD66B"/>
                </a:solidFill>
                <a:latin typeface="Aptos"/>
              </a:defRPr>
            </a:pPr>
            <a:r>
              <a:t>Highest observed payload-band success: 2,000–4,000 kg (13 / 21 launches).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852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CBD8E6"/>
                </a:solidFill>
                <a:latin typeface="Aptos"/>
              </a:defRPr>
            </a:pPr>
            <a:r>
              <a:t>Small groups and historical confounding limit causal interpretation.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0F7FA"/>
                </a:solidFill>
                <a:latin typeface="Aptos Display"/>
              </a:rPr>
              <a:t>Python EDA | launch site &amp; payload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Flight number vs launch site</a:t>
            </a:r>
          </a:p>
        </p:txBody>
      </p:sp>
      <p:pic>
        <p:nvPicPr>
          <p:cNvPr id="11" name="Picture 10" descr="eda_cell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8027"/>
            <a:ext cx="5394960" cy="26254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Payload mass vs launch site</a:t>
            </a:r>
          </a:p>
        </p:txBody>
      </p:sp>
      <p:pic>
        <p:nvPicPr>
          <p:cNvPr id="13" name="Picture 12" descr="eda_cell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58027"/>
            <a:ext cx="5394960" cy="26254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" y="5349240"/>
            <a:ext cx="10789920" cy="438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Notebook charts colour landing class (0 = unsuccessful, 1 = successful).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24728"/>
            <a:ext cx="10789920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4"/>
              </a:rPr>
              <a:t>View the original Python EDA notebook on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0F7FA"/>
                </a:solidFill>
                <a:latin typeface="Aptos Display"/>
              </a:rPr>
              <a:t>Python EDA | orbit &amp; yearly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Orbit-level landing success</a:t>
            </a:r>
          </a:p>
        </p:txBody>
      </p:sp>
      <p:pic>
        <p:nvPicPr>
          <p:cNvPr id="11" name="Picture 10" descr="eda_cell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37399"/>
            <a:ext cx="5394960" cy="3066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1508760"/>
            <a:ext cx="5440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Landing success by launch year</a:t>
            </a:r>
          </a:p>
        </p:txBody>
      </p:sp>
      <p:pic>
        <p:nvPicPr>
          <p:cNvPr id="13" name="Picture 12" descr="eda_cell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678" y="1947672"/>
            <a:ext cx="5038931" cy="3246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" y="5349240"/>
            <a:ext cx="10789920" cy="438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500" b="0">
                <a:solidFill>
                  <a:srgbClr val="F0F7FA"/>
                </a:solidFill>
                <a:latin typeface="Aptos"/>
              </a:rPr>
              <a:t>Descriptive associations only: these charts do not establish causality.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24728"/>
            <a:ext cx="10789920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4"/>
              </a:rPr>
              <a:t>View the original Python EDA notebook on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analysis: queries answered with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launch records in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45,596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NASA CRS total payload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2,928.4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F9 v1.1 average payload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6393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20440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Earliest successful ground-pad landing: 22 December 2015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33425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215384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SQL distinguished mission success from first-stage landing outcomes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02920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910328"/>
            <a:ext cx="1051560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Date text was converted from DD-MM-YYYY to ISO order for filtering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18872"/>
            <a:ext cx="12188952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900" b="1">
                <a:solidFill>
                  <a:srgbClr val="F0F7FA"/>
                </a:solidFill>
                <a:latin typeface="Aptos"/>
              </a:rPr>
              <a:t>SQL evidence | payload mass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6364224"/>
            <a:ext cx="11064240" cy="9144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144000" cy="2011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C6D4E1"/>
                </a:solidFill>
                <a:latin typeface="Aptos"/>
              </a:rPr>
              <a:t>EKE UKA OKORO  •  SPACEX FALCON 9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664208"/>
            <a:ext cx="10991088" cy="192024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6400800" cy="31089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54B4DE"/>
                </a:solidFill>
                <a:latin typeface="Aptos"/>
              </a:rPr>
              <a:t>TASK 3  •  NASA CRS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185416"/>
            <a:ext cx="8138160" cy="109728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SELECT SUM(PAYLOAD_MASS__KG_) AS Total_Payload_Mass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WHERE Customer = 'NASA (CRS)';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2832" y="2148840"/>
            <a:ext cx="2331720" cy="768096"/>
          </a:xfrm>
          <a:prstGeom prst="round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267712"/>
            <a:ext cx="2048256" cy="3840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8DD16E"/>
                </a:solidFill>
                <a:latin typeface="Aptos"/>
              </a:rPr>
              <a:t>45,596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0264" y="2962656"/>
            <a:ext cx="2249424" cy="5029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C6D4E1"/>
                </a:solidFill>
                <a:latin typeface="Aptos"/>
              </a:rPr>
              <a:t>Sum of payload masses for NASA CRS missions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803904"/>
            <a:ext cx="10991088" cy="192024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913632"/>
            <a:ext cx="6400800" cy="31089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54B4DE"/>
                </a:solidFill>
                <a:latin typeface="Aptos"/>
              </a:rPr>
              <a:t>TASK 4  •  Falcon 9 v1.1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325112"/>
            <a:ext cx="8138160" cy="109728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SELECT AVG(PAYLOAD_MASS__KG_) AS Average_Payload_Mass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0F7FA"/>
                </a:solidFill>
                <a:latin typeface="Consolas"/>
              </a:rPr>
              <a:t>WHERE Booster_Version = 'F9 v1.1';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4288536"/>
            <a:ext cx="2331720" cy="768096"/>
          </a:xfrm>
          <a:prstGeom prst="round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4407408"/>
            <a:ext cx="2048256" cy="3840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100" b="1">
                <a:solidFill>
                  <a:srgbClr val="8DD16E"/>
                </a:solidFill>
                <a:latin typeface="Aptos"/>
              </a:rPr>
              <a:t>2,928.4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5102352"/>
            <a:ext cx="2249424" cy="5029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C6D4E1"/>
                </a:solidFill>
                <a:latin typeface="Aptos"/>
              </a:rPr>
              <a:t>Mean payload mass for the specified booster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879592"/>
            <a:ext cx="10771632" cy="329184"/>
          </a:xfrm>
          <a:prstGeom prst="round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907024"/>
            <a:ext cx="10058400" cy="29260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54B4DE"/>
                </a:solidFill>
                <a:latin typeface="Aptos"/>
                <a:hlinkClick r:id="rId2"/>
              </a:rPr>
              <a:t>SOURCE  •  Executed SQL cells and stored output tables in the SQL notebook (click to open)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118872"/>
            <a:ext cx="12188952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900" b="1">
                <a:solidFill>
                  <a:srgbClr val="F0F7FA"/>
                </a:solidFill>
                <a:latin typeface="Aptos"/>
              </a:rPr>
              <a:t>SQL evidence | first ground-pad landing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6364224"/>
            <a:ext cx="11064240" cy="9144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9144000" cy="2011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C6D4E1"/>
                </a:solidFill>
                <a:latin typeface="Aptos"/>
              </a:rPr>
              <a:t>EKE UKA OKORO  •  SPACEX FALCON 9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673352"/>
            <a:ext cx="10991088" cy="343814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874519"/>
            <a:ext cx="10058400" cy="329184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54B4DE"/>
                </a:solidFill>
                <a:latin typeface="Aptos"/>
              </a:rPr>
              <a:t>TASK 5  •  Find earliest successful ground-pad 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331720"/>
            <a:ext cx="8961120" cy="260604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SELECT MIN(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7, 4) || '-' ||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4, 2) || '-' ||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    SUBSTR(Date, 1, 2)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) AS First_Successful_Landing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FROM SPACEXTABLE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F0F7FA"/>
                </a:solidFill>
                <a:latin typeface="Consolas"/>
              </a:rPr>
              <a:t>WHERE "Landing _Outcome" = 'Success (ground pad)';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66944"/>
            <a:ext cx="10826496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385816"/>
            <a:ext cx="4572000" cy="347472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54B4DE"/>
                </a:solidFill>
                <a:latin typeface="Aptos"/>
              </a:rPr>
              <a:t>QUERY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5330952"/>
            <a:ext cx="5029200" cy="429768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2400" b="1">
                <a:solidFill>
                  <a:srgbClr val="8DD16E"/>
                </a:solidFill>
                <a:latin typeface="Aptos"/>
              </a:rPr>
              <a:t>2015-12-22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10771632" cy="338328"/>
          </a:xfrm>
          <a:prstGeom prst="round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5980176"/>
            <a:ext cx="10058400" cy="274320"/>
          </a:xfrm>
          <a:prstGeom prst="rect">
            <a:avLst/>
          </a:prstGeom>
          <a:noFill/>
        </p:spPr>
        <p:txBody>
          <a:bodyPr wrap="square" lIns="25400" tIns="1270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54B4DE"/>
                </a:solidFill>
                <a:latin typeface="Aptos"/>
                <a:hlinkClick r:id="rId2"/>
              </a:rPr>
              <a:t>SOURCE  •  Date strings converted to ISO format before taking MIN() (click to open notebook)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output: landing outcomes, 2010–2017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82496"/>
            <a:ext cx="7863840" cy="466344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83080"/>
            <a:ext cx="77266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54B4D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682496"/>
            <a:ext cx="2926080" cy="466344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783080"/>
            <a:ext cx="2788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54B4DE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48840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244852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No attempt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148840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2244852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615184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711196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Success (drone ship)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13648" y="2615184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711196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081528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177540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Failure (drone ship)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3081528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3177540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547872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643884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Success (ground pad)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13648" y="3547872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3643884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014215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110228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Controlled (ocean)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13648" y="4014215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4110228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480560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576572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Uncontrolled (ocean)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4480560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4576572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4946904"/>
            <a:ext cx="786384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042916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Failure (parachute)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13648" y="4946904"/>
            <a:ext cx="2926080" cy="466344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042916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5413248"/>
            <a:ext cx="786384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7" y="5509260"/>
            <a:ext cx="771753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Precluded (drone ship)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5413248"/>
            <a:ext cx="2926080" cy="466344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5509260"/>
            <a:ext cx="27797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60076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CBD8E6"/>
                </a:solidFill>
                <a:latin typeface="Aptos"/>
              </a:defRPr>
            </a:pPr>
            <a:r>
              <a:t>Period: 4 Jun 2010 – 20 Mar 2017  •  31 records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SQL findings: booster and landing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5239512" cy="36118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755648"/>
            <a:ext cx="5239512" cy="36118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7CD66B"/>
                </a:solidFill>
                <a:latin typeface="Aptos"/>
              </a:defRPr>
            </a:pPr>
            <a:r>
              <a:t>Drone-ship landing attempts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28072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7FAFD"/>
                </a:solidFill>
                <a:latin typeface="Aptos"/>
              </a:defRPr>
            </a:pPr>
            <a:r>
              <a:t>5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37033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successful in the 2010–2017 filtered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54B4DE"/>
                </a:solidFill>
                <a:latin typeface="Aptos"/>
              </a:defRPr>
            </a:pPr>
            <a:r>
              <a:t>Maximum-payload booster 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8072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000" b="1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CBD8E6"/>
                </a:solidFill>
                <a:latin typeface="Aptos"/>
              </a:defRPr>
            </a:pPr>
            <a:r>
              <a:t>distinct IDs; all labelled F9 B5 in the SQL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715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B45A"/>
                </a:solidFill>
                <a:latin typeface="Aptos"/>
              </a:defRPr>
            </a:pPr>
            <a:r>
              <a:t>Two failed drone-ship landings in 2015 were identified in January and April.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F7FA"/>
                </a:solidFill>
                <a:latin typeface="Aptos Display"/>
              </a:rPr>
              <a:t>Folium evidence | proximity calculations &amp;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35024"/>
            <a:ext cx="1088136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TASK 3  •  Haversine distance, map markers and connecting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47088"/>
            <a:ext cx="6675120" cy="373075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993392"/>
            <a:ext cx="6355080" cy="35204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240" b="0">
                <a:solidFill>
                  <a:srgbClr val="F0F7FA"/>
                </a:solidFill>
                <a:latin typeface="Consolas"/>
              </a:rPr>
              <a:t># Reference: CCAFS LC-40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launch_site = (28.562302, -80.577356)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railway_point = (28.572277, -80.653919)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highway_point = (28.493048, -80.674388)</a:t>
            </a:r>
            <a:br/>
            <a:br/>
            <a:r>
              <a:rPr sz="1240" b="0">
                <a:solidFill>
                  <a:srgbClr val="F0F7FA"/>
                </a:solidFill>
                <a:latin typeface="Consolas"/>
              </a:rPr>
              <a:t>railway_distance = calculate_distance(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launch_site, railway_point)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highway_distance = calculate_distance(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launch_site, highway_point)</a:t>
            </a:r>
            <a:br/>
            <a:br/>
            <a:r>
              <a:rPr sz="1240" b="0">
                <a:solidFill>
                  <a:srgbClr val="F0F7FA"/>
                </a:solidFill>
                <a:latin typeface="Consolas"/>
              </a:rPr>
              <a:t>folium.PolyLine(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locations=[launch_site, highway_point],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color="orange", weight=3,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    popup=f"Highway: {highway_distance:.2f} km"</a:t>
            </a:r>
            <a:br/>
            <a:r>
              <a:rPr sz="1240" b="0">
                <a:solidFill>
                  <a:srgbClr val="F0F7FA"/>
                </a:solidFill>
                <a:latin typeface="Consolas"/>
              </a:rPr>
              <a:t>).add_to(site_map)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847088"/>
            <a:ext cx="3794760" cy="373075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048256"/>
            <a:ext cx="338328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800" b="1">
                <a:solidFill>
                  <a:srgbClr val="8DD16E"/>
                </a:solidFill>
                <a:latin typeface="Aptos"/>
              </a:rPr>
              <a:t>Measured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660904"/>
            <a:ext cx="3337560" cy="228600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0">
                <a:solidFill>
                  <a:srgbClr val="F0F7FA"/>
                </a:solidFill>
                <a:latin typeface="Aptos"/>
              </a:rPr>
              <a:t>Coastline     0.58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Railway        7.56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Highway      12.21 km</a:t>
            </a:r>
            <a:br/>
            <a:r>
              <a:rPr sz="1700" b="0">
                <a:solidFill>
                  <a:srgbClr val="F0F7FA"/>
                </a:solidFill>
                <a:latin typeface="Aptos"/>
              </a:rPr>
              <a:t>City point    18.19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789920" cy="3657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Aptos"/>
              </a:rPr>
              <a:t>Distances are straight-line to selected points, not road distances or proven nearest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44184"/>
            <a:ext cx="10789920" cy="3200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2"/>
              </a:rPr>
              <a:t>Open the original Folium notebook (Task 3) on 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0F7FA"/>
                </a:solidFill>
                <a:latin typeface="Aptos Display"/>
              </a:rPr>
              <a:t>Folium evidence | launch sites &amp; landing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53312"/>
            <a:ext cx="1088136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TASK 1 + TASK 2  •  Interactive site markers and success/failure clusters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56231"/>
            <a:ext cx="10716768" cy="3182112"/>
          </a:xfrm>
          <a:prstGeom prst="roundRect">
            <a:avLst/>
          </a:prstGeom>
          <a:solidFill>
            <a:srgbClr val="23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149840" cy="283464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Consolas"/>
              </a:rPr>
              <a:t># Label each launch site on the map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for _, site in launch_sites.iterrows():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coordinate = [site["Lat"], site["Long"]]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folium.Circle(location=coordinate, radius=1000,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              color="#d35400", fill=True).add_to(site_map)</a:t>
            </a:r>
            <a:br/>
            <a:br/>
            <a:r>
              <a:rPr sz="1400" b="0">
                <a:solidFill>
                  <a:srgbClr val="F0F7FA"/>
                </a:solidFill>
                <a:latin typeface="Consolas"/>
              </a:rPr>
              <a:t># Encode landing outcome and cluster launch records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spacex_df["marker_color"] = spacex_df["class"].apply(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lambda outcome: "green" if outcome == 1 else "red")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marker_cluster = MarkerCluster().add_to(site_map)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for _, record in spacex_df.iterrows():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folium.Marker([record["Lat"], record["Long"]],</a:t>
            </a:r>
            <a:br/>
            <a:r>
              <a:rPr sz="1400" b="0">
                <a:solidFill>
                  <a:srgbClr val="F0F7FA"/>
                </a:solidFill>
                <a:latin typeface="Consolas"/>
              </a:rPr>
              <a:t>        icon=folium.Icon(color=record["marker_color"])).add_to(marker_cluster)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257800"/>
            <a:ext cx="10789920" cy="4114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400" b="0">
                <a:solidFill>
                  <a:srgbClr val="F0F7FA"/>
                </a:solidFill>
                <a:latin typeface="Aptos"/>
              </a:rPr>
              <a:t>Interactive notebook output: click clusters to expand launches; green = landing success, red =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779008"/>
            <a:ext cx="10789920" cy="36576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r>
              <a:rPr sz="1300" b="0">
                <a:solidFill>
                  <a:srgbClr val="54B4DE"/>
                </a:solidFill>
                <a:latin typeface="Aptos"/>
                <a:hlinkClick r:id="rId2"/>
              </a:rPr>
              <a:t>Open the original Folium notebook (Tasks 1–2) on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Folium: interactive geographical exploration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93852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819656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Launch-site coordinates plotted with circles and labels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7066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587752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Green / red landing-outcome markers and MarkerCluster for exploration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47472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355848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MousePosition and Haversine straight-line distances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24281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123944"/>
            <a:ext cx="10424159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Lines connect LC-40 to selected coast, rail, highway and city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3766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4B4DE"/>
                </a:solidFill>
                <a:latin typeface="Aptos"/>
              </a:defRPr>
            </a:pPr>
            <a:r>
              <a:t>Map evidence: screenshot captured from the completed Jupyter Folium notebook.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Folium results: LC-40 proximity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pacex_folium_proximity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684" y="1517904"/>
            <a:ext cx="7701295" cy="4462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6025896"/>
            <a:ext cx="108356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CBD8E6"/>
                </a:solidFill>
                <a:latin typeface="Aptos"/>
              </a:defRPr>
            </a:pPr>
            <a:r>
              <a:t>Measured to selected points, not verified nearest features  •  Coast 0.58 km  •  Rail 7.56 km  •  Highway 12.21 km  •  City 18.19 km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Geographic interpretation &amp;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92224"/>
            <a:ext cx="6949440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6812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4B4DE"/>
                </a:solidFill>
                <a:latin typeface="Aptos"/>
              </a:defRPr>
            </a:pPr>
            <a:r>
              <a:t>Selected geographical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792224"/>
            <a:ext cx="3749039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1892807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54B4DE"/>
                </a:solidFill>
                <a:latin typeface="Aptos"/>
              </a:defRPr>
            </a:pPr>
            <a:r>
              <a:t>Distance from LC-40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59152"/>
            <a:ext cx="6949440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455164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Coastline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359152"/>
            <a:ext cx="3749039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2455164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0.58 km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926080"/>
            <a:ext cx="6949440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22092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NASA railway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2926080"/>
            <a:ext cx="3749039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19" y="3022092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7.56 km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93008"/>
            <a:ext cx="6949440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89020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Florida SR 3 highway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493008"/>
            <a:ext cx="3749039" cy="566928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3589020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12.21 km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59935"/>
            <a:ext cx="6949440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55948"/>
            <a:ext cx="6803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City reference 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4059935"/>
            <a:ext cx="3749039" cy="566928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41559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18.19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10235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Coastal placement may facilitate trajectories over water; transport links may support logistics. These distances do not prove site-selection causes or nearest-feature proximity.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Plotly Dash: an interactive analytics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64792"/>
            <a:ext cx="10789920" cy="349300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22494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1305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Launch-site dropdown: all sites or a selected 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9352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28163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Pie chart: successful versus unsuccessful landings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" y="36210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5021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Payload-range slider: interactively filter launches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430682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187952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Scatter plot: payload mass × outcome, coloured by booster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596128"/>
            <a:ext cx="10515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4B4DE"/>
                </a:solidFill>
                <a:latin typeface="Aptos"/>
              </a:defRPr>
            </a:pPr>
            <a:r>
              <a:t>Working locally at http://127.0.0.1:8050/  •  source code included in GitHub repository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Dashboard result | successful landings by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5 104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662" y="1517904"/>
            <a:ext cx="9164369" cy="443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6080760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EEAF6"/>
                </a:solidFill>
              </a:defRPr>
            </a:pPr>
            <a:r>
              <a:t>Of 24 successful landings, KSC LC-39A contributes 10 (41.7%). Its site-specific success rate is 10/13 = 76.92%.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Dashboard result | payload and booster 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10-15 104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" y="1517904"/>
            <a:ext cx="10652760" cy="4211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6080760"/>
            <a:ext cx="10744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EEAF6"/>
                </a:solidFill>
              </a:defRPr>
            </a:pPr>
            <a:r>
              <a:t>Interactive scatter: each point represents a launch; 1 = successful landing, 0 = unsuccessful. Colours distinguish booster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Dashboard insights: what changed with filters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76.92%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KSC LC-39A success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61.90%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2–4 tonne payload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383280" cy="137160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7451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66.67%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478024"/>
            <a:ext cx="2971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F7FAFD"/>
                </a:solidFill>
                <a:latin typeface="Aptos"/>
              </a:defRPr>
            </a:pPr>
            <a:r>
              <a:t>FT booster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367588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557016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KSC LC-39A: 10 successful of 13 sampled launches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437997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61104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2,000–4,000 kg: 13 successful of 21 launches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508406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965192"/>
            <a:ext cx="10424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FT boosters: 16 successful of 24 launches; B5 had only one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0" cy="3200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064240" cy="502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500" b="1">
                <a:solidFill>
                  <a:srgbClr val="F4F9FC"/>
                </a:solidFill>
              </a:defRPr>
            </a:pPr>
            <a:r>
              <a:t>Dash evidence | site dropdown changes landing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D4E4EE"/>
                </a:solidFill>
              </a:defRPr>
            </a:pPr>
            <a:r>
              <a:t>Interactive control: launch-site dropdown set to KSC LC-39A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65376"/>
            <a:ext cx="7818120" cy="431596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SC_LC_3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22242"/>
            <a:ext cx="7498079" cy="35748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865376"/>
            <a:ext cx="3154680" cy="43159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157984"/>
            <a:ext cx="2651760" cy="292608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300" b="1">
                <a:solidFill>
                  <a:srgbClr val="54B4DE"/>
                </a:solidFill>
              </a:defRPr>
            </a:pPr>
            <a:r>
              <a:t>SELECTED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96896"/>
            <a:ext cx="265176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200" b="1">
                <a:solidFill>
                  <a:srgbClr val="F4F9FC"/>
                </a:solidFill>
              </a:defRPr>
            </a:pPr>
            <a:r>
              <a:t>KSC LC-39A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18688"/>
            <a:ext cx="2651760" cy="7315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3900" b="1">
                <a:solidFill>
                  <a:srgbClr val="8DD16E"/>
                </a:solidFill>
              </a:defRPr>
            </a:pPr>
            <a:r>
              <a:t>76.9%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977639"/>
            <a:ext cx="2651760" cy="7315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700" b="0">
                <a:solidFill>
                  <a:srgbClr val="F4F9FC"/>
                </a:solidFill>
              </a:defRPr>
            </a:pPr>
            <a:r>
              <a:t>Successful landings</a:t>
            </a:r>
          </a:p>
          <a:p>
            <a:pPr>
              <a:defRPr sz="1700" b="0">
                <a:solidFill>
                  <a:srgbClr val="F4F9FC"/>
                </a:solidFill>
              </a:defRPr>
            </a:pPr>
            <a:r>
              <a:t>10 of 13 launches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983480"/>
            <a:ext cx="2651760" cy="64008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23.1% unsuccessful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(3 of 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0" cy="3200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064240" cy="5029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2500" b="1">
                <a:solidFill>
                  <a:srgbClr val="F4F9FC"/>
                </a:solidFill>
              </a:defRPr>
            </a:pPr>
            <a:r>
              <a:t>Dash evidence | payload slider &amp; booster scatter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D4E4EE"/>
                </a:solidFill>
              </a:defRPr>
            </a:pPr>
            <a:r>
              <a:t>Interactive controls: KSC LC-39A selected; payload slider filtered to 2,000–6,000 kg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56231"/>
            <a:ext cx="8321040" cy="4315968"/>
          </a:xfrm>
          <a:prstGeom prst="round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SC_LC_39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7054"/>
            <a:ext cx="8046720" cy="27760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52560" y="1856231"/>
            <a:ext cx="2651760" cy="43159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2148840"/>
            <a:ext cx="2240280" cy="3657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1">
                <a:solidFill>
                  <a:srgbClr val="54B4DE"/>
                </a:solidFill>
              </a:defRPr>
            </a:pPr>
            <a:r>
              <a:t>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651760"/>
            <a:ext cx="2240280" cy="8229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Launch site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KSC LC-39A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694176"/>
            <a:ext cx="2240280" cy="8229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600" b="0">
                <a:solidFill>
                  <a:srgbClr val="F4F9FC"/>
                </a:solidFill>
              </a:defRPr>
            </a:pPr>
            <a:r>
              <a:t>Payload mass</a:t>
            </a:r>
          </a:p>
          <a:p>
            <a:pPr>
              <a:defRPr sz="1600" b="0">
                <a:solidFill>
                  <a:srgbClr val="F4F9FC"/>
                </a:solidFill>
              </a:defRPr>
            </a:pPr>
            <a:r>
              <a:t>2,000–6,000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736592"/>
            <a:ext cx="2240280" cy="100584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defRPr sz="1400" b="0">
                <a:solidFill>
                  <a:srgbClr val="F4F9FC"/>
                </a:solidFill>
              </a:defRPr>
            </a:pPr>
            <a:r>
              <a:t>Colour = booster version</a:t>
            </a:r>
          </a:p>
          <a:p>
            <a:pPr>
              <a:defRPr sz="1400" b="0">
                <a:solidFill>
                  <a:srgbClr val="F4F9FC"/>
                </a:solidFill>
              </a:defRPr>
            </a:pPr>
            <a:r>
              <a:t>Y-axis: 1 success, 0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Machine learning: modelling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80 encoded predictors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80% train / 20%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TUNE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GridSearchCV; 10 folds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0032" y="1984248"/>
            <a:ext cx="2697480" cy="2505456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22219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7CD6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9443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F7FAF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52044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CBD8E6"/>
                </a:solidFill>
                <a:latin typeface="Aptos"/>
              </a:defRPr>
            </a:pPr>
            <a:r>
              <a:t>LR, SVM, Tree, KNN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20293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54B4DE"/>
                </a:solidFill>
                <a:latin typeface="Aptos"/>
              </a:defRPr>
            </a:pPr>
            <a:r>
              <a:t>Evaluation: 18 held-out launches; accuracy plus confusion matrices.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-73152"/>
            <a:ext cx="12191695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5486400" cy="292608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48463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2500" b="1">
                <a:solidFill>
                  <a:srgbClr val="F4F9FC"/>
                </a:solidFill>
                <a:latin typeface="Aptos"/>
              </a:rPr>
              <a:t>ML evidence | splitting and tuning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Notebook code and modelling design: 90 labelled launches, 80 encoded predictors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56231"/>
            <a:ext cx="7315200" cy="363931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672084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700" b="1">
                <a:solidFill>
                  <a:srgbClr val="8DD16E"/>
                </a:solidFill>
                <a:latin typeface="Aptos"/>
              </a:rPr>
              <a:t># Train/test partition and model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96896"/>
            <a:ext cx="6748272" cy="23774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Consolas"/>
              </a:rPr>
              <a:t>X_train, X_test, Y_train, Y_test = train_test_split(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    X, Y, test_size=0.2, random_state=2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)</a:t>
            </a:r>
          </a:p>
          <a:p/>
          <a:p>
            <a:r>
              <a:rPr sz="1600" b="0">
                <a:solidFill>
                  <a:srgbClr val="F4F9FC"/>
                </a:solidFill>
                <a:latin typeface="Consolas"/>
              </a:rPr>
              <a:t>logreg_cv = GridSearchCV(lr, parameters, cv=10)</a:t>
            </a:r>
          </a:p>
          <a:p>
            <a:r>
              <a:rPr sz="1600" b="0">
                <a:solidFill>
                  <a:srgbClr val="F4F9FC"/>
                </a:solidFill>
                <a:latin typeface="Consolas"/>
              </a:rPr>
              <a:t>logreg_cv.fit(X_train, Y_train)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856231"/>
            <a:ext cx="3575304" cy="363931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130552"/>
            <a:ext cx="2926080" cy="27432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560320"/>
            <a:ext cx="2926080" cy="57607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3100" b="1">
                <a:solidFill>
                  <a:srgbClr val="8DD16E"/>
                </a:solidFill>
                <a:latin typeface="Aptos"/>
              </a:rPr>
              <a:t>18 / 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209544"/>
            <a:ext cx="2971800" cy="68580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700" b="0">
                <a:solidFill>
                  <a:srgbClr val="F4F9FC"/>
                </a:solidFill>
                <a:latin typeface="Aptos"/>
              </a:rPr>
              <a:t>20% held out for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4251960"/>
            <a:ext cx="3017520" cy="75895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Aptos"/>
              </a:rPr>
              <a:t>10-fold cross-validation</a:t>
            </a:r>
          </a:p>
          <a:p>
            <a:r>
              <a:rPr sz="1600" b="0">
                <a:solidFill>
                  <a:srgbClr val="F4F9FC"/>
                </a:solidFill>
                <a:latin typeface="Aptos"/>
              </a:rPr>
              <a:t>for 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24144"/>
            <a:ext cx="1051560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54B4DE"/>
                </a:solidFill>
                <a:latin typeface="Aptos"/>
                <a:hlinkClick r:id="rId2"/>
              </a:rPr>
              <a:t>Open machine-learning notebook on GitHub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05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-73152"/>
            <a:ext cx="12191695" cy="640080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5486400" cy="292608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IBM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48463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2500" b="1">
                <a:solidFill>
                  <a:srgbClr val="F4F9FC"/>
                </a:solidFill>
                <a:latin typeface="Aptos"/>
              </a:rPr>
              <a:t>ML evidence | model accuracy and error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Held-out test performance (18 records) and interpretation of confusion matrices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37943"/>
            <a:ext cx="7086600" cy="398678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20624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2103120"/>
            <a:ext cx="2331720" cy="3200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51760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55848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Support Vector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55848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59935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K-Nearest Neighbours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59935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8DD16E"/>
                </a:solidFill>
                <a:latin typeface="Aptos"/>
              </a:rPr>
              <a:t>83.33%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64024"/>
            <a:ext cx="420624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800" b="0">
                <a:solidFill>
                  <a:srgbClr val="F4F9FC"/>
                </a:solidFill>
                <a:latin typeface="Aptos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764024"/>
            <a:ext cx="2240280" cy="438912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F4F9FC"/>
                </a:solidFill>
                <a:latin typeface="Aptos"/>
              </a:rPr>
              <a:t>77.78%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37943"/>
            <a:ext cx="3785615" cy="3986784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148840"/>
            <a:ext cx="3154680" cy="27432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1">
                <a:solidFill>
                  <a:srgbClr val="54B4DE"/>
                </a:solidFill>
                <a:latin typeface="Aptos"/>
              </a:rPr>
              <a:t>TIED BEST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06040"/>
            <a:ext cx="3108960" cy="54864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3000" b="1">
                <a:solidFill>
                  <a:srgbClr val="8DD16E"/>
                </a:solidFill>
                <a:latin typeface="Aptos"/>
              </a:rPr>
              <a:t>15 /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191256"/>
            <a:ext cx="3154680" cy="45720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600" b="0">
                <a:solidFill>
                  <a:srgbClr val="F4F9FC"/>
                </a:solidFill>
                <a:latin typeface="Aptos"/>
              </a:rPr>
              <a:t>Correct test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04487"/>
            <a:ext cx="3154680" cy="521207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400" b="0">
                <a:solidFill>
                  <a:srgbClr val="CDDEE8"/>
                </a:solidFill>
                <a:latin typeface="Aptos"/>
              </a:rPr>
              <a:t>Confusion matrix (LR / SVM / KNN)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26280"/>
            <a:ext cx="3108960" cy="822960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900" b="1">
                <a:solidFill>
                  <a:srgbClr val="F4F9FC"/>
                </a:solidFill>
                <a:latin typeface="Aptos"/>
              </a:rPr>
              <a:t>TN 3  •  FP 3</a:t>
            </a:r>
          </a:p>
          <a:p>
            <a:r>
              <a:rPr sz="1900" b="1">
                <a:solidFill>
                  <a:srgbClr val="F4F9FC"/>
                </a:solidFill>
                <a:latin typeface="Aptos"/>
              </a:rPr>
              <a:t>FN 0  •  TP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6007608"/>
            <a:ext cx="10789920" cy="310896"/>
          </a:xfrm>
          <a:prstGeom prst="rect">
            <a:avLst/>
          </a:prstGeom>
          <a:noFill/>
        </p:spPr>
        <p:txBody>
          <a:bodyPr wrap="square" lIns="54864" tIns="22860">
            <a:spAutoFit/>
          </a:bodyPr>
          <a:lstStyle/>
          <a:p>
            <a:r>
              <a:rPr sz="1500" b="0">
                <a:solidFill>
                  <a:srgbClr val="CDDEE8"/>
                </a:solidFill>
                <a:latin typeface="Aptos"/>
              </a:rPr>
              <a:t>Results summary: three models tied; no unique winner.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Classification results: held-out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50638" y="1975104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0638" y="1975104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0102" y="1901952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02052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Support Vector Machine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0638" y="2756916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50638" y="2756916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0102" y="2683764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83864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0638" y="3538728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0638" y="3538728"/>
            <a:ext cx="3961141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0102" y="3465576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77.78%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65676"/>
            <a:ext cx="379247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F7FAFD"/>
                </a:solidFill>
                <a:latin typeface="Aptos"/>
              </a:defRPr>
            </a:pPr>
            <a:r>
              <a:t>K-Nearest Neighbours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0638" y="4320540"/>
            <a:ext cx="5092750" cy="201168"/>
          </a:xfrm>
          <a:prstGeom prst="roundRect">
            <a:avLst/>
          </a:prstGeom>
          <a:solidFill>
            <a:srgbClr val="1B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50638" y="4320540"/>
            <a:ext cx="4243789" cy="201168"/>
          </a:xfrm>
          <a:prstGeom prst="round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0102" y="4247388"/>
            <a:ext cx="1516989" cy="73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376672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AFD"/>
                </a:solidFill>
                <a:latin typeface="Aptos"/>
              </a:defRPr>
            </a:pPr>
            <a:r>
              <a:t>Three classifiers tied at 83.33% (15 correct out of 18). No unique winner on this test split.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Confusion matrices: what models missed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1856231"/>
            <a:ext cx="347472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956815"/>
            <a:ext cx="3337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FP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21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FN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6" y="1856231"/>
            <a:ext cx="105156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1956815"/>
            <a:ext cx="91439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3336" y="1856231"/>
            <a:ext cx="3154680" cy="585216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94776" y="1956815"/>
            <a:ext cx="3017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54B4DE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" y="2441448"/>
            <a:ext cx="347472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2537460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709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865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51776" y="2441448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6" y="2537460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03336" y="2441448"/>
            <a:ext cx="315468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2537460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" y="3026663"/>
            <a:ext cx="347472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3122675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SVM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709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853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4865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009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165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776" y="3026663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3122675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03336" y="3026663"/>
            <a:ext cx="315468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3122675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" y="3611879"/>
            <a:ext cx="347472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3707891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709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4865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009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021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9165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51776" y="3611879"/>
            <a:ext cx="105156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43216" y="3707891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336" y="3611879"/>
            <a:ext cx="3154680" cy="585216"/>
          </a:xfrm>
          <a:prstGeom prst="rect">
            <a:avLst/>
          </a:prstGeom>
          <a:solidFill>
            <a:srgbClr val="34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4776" y="3707891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77.78%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" y="4197096"/>
            <a:ext cx="347472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" y="4293108"/>
            <a:ext cx="33284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709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8853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4865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009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021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9165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51776" y="4197096"/>
            <a:ext cx="105156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43216" y="4293108"/>
            <a:ext cx="90525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03336" y="4197096"/>
            <a:ext cx="3154680" cy="5852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94776" y="4293108"/>
            <a:ext cx="3008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F7FAFD"/>
                </a:solidFill>
                <a:latin typeface="Aptos"/>
              </a:defRPr>
            </a:pPr>
            <a:r>
              <a:t>83.33%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53035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FFB45A"/>
                </a:solidFill>
                <a:latin typeface="Aptos"/>
              </a:defRPr>
            </a:pPr>
            <a:r>
              <a:t>For the tied models, all 12 actual positive cases were detected, but three negative cases were classified positive.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Key insights: evidence, not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81051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691640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Landing success differs substantially by launch-site label in the 56-launch sample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59689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478024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Payload and booster-generation patterns vary, but group sizes and time trends matter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38328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264408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LC-40 is coastal; selected road and railway points are within ~12 km straight-line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169663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50791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Model test accuracy reached 83.33%, but the hold-out contains only 18 launches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9560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837176"/>
            <a:ext cx="1042415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Observed associations do not establish that geography or payload caused landing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Conclusions &amp; practical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17352" cy="4050791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12140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002536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Delivered a reproducible capstone spanning acquisition, SQL, EDA, mapping, Dash and 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8163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697480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Use the dashboard and Folium map to explore patterns rather than infer causality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511296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5296" y="3392424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Validate on later launch periods and larger datasets; examine class imbalance and calibration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20624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087368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Standardise launch-site names and verify nearest geographic features before stronger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90118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4782312"/>
            <a:ext cx="99212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F7FAFD"/>
                </a:solidFill>
                <a:latin typeface="Aptos"/>
              </a:defRPr>
            </a:pPr>
            <a:r>
              <a:t>Retrain with leakage-safe preprocessing inside cross-validation pipelines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05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4B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"/>
            <a:ext cx="12191695" cy="502920"/>
          </a:xfrm>
          <a:prstGeom prst="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22860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54B4DE"/>
                </a:solidFill>
                <a:latin typeface="Aptos"/>
              </a:defRPr>
            </a:pPr>
            <a:r>
              <a:t>IBM DATA SCIENCE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32104"/>
            <a:ext cx="109728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7FAFD"/>
                </a:solidFill>
                <a:latin typeface="Aptos"/>
              </a:defRPr>
            </a:pPr>
            <a:r>
              <a:t>Portfolio, sources &amp;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64224"/>
            <a:ext cx="11064240" cy="13716"/>
          </a:xfrm>
          <a:prstGeom prst="rect">
            <a:avLst/>
          </a:prstGeom>
          <a:solidFill>
            <a:srgbClr val="748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373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CBD8E6"/>
                </a:solidFill>
                <a:latin typeface="Aptos"/>
              </a:defRPr>
            </a:pPr>
            <a:r>
              <a:t>EKE UKA OKORO  •  SPACEX FALCON 9 CAPSTONE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0504" y="6391656"/>
            <a:ext cx="612648" cy="320040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83080"/>
            <a:ext cx="4572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7CD66B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286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7FAFD"/>
                </a:solidFill>
                <a:latin typeface="Aptos"/>
              </a:defRPr>
            </a:pPr>
            <a:r>
              <a:t>github.com/eokorouka-jpg/SpaceX-Falcon9-Data-Science-Capstone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291840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172968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Notebooks: API, scraping, SQL, Python EDA, Folium and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895344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3776472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Dash application and supporting CSV datasets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498848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4379976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Interactive map: spacex_folium_final_map.html (save and commit if available)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5102352"/>
            <a:ext cx="86868" cy="86868"/>
          </a:xfrm>
          <a:prstGeom prst="rect">
            <a:avLst/>
          </a:prstGeom>
          <a:solidFill>
            <a:srgbClr val="7C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4983480"/>
            <a:ext cx="102412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7FAFD"/>
                </a:solidFill>
                <a:latin typeface="Aptos"/>
              </a:defRPr>
            </a:pPr>
            <a:r>
              <a:t>Presentation figures are from the project data; Folium map is a notebook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797296"/>
            <a:ext cx="106070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CBD8E6"/>
                </a:solidFill>
                <a:latin typeface="Aptos"/>
              </a:defRPr>
            </a:pPr>
            <a:r>
              <a:t>Source context: IBM Data Science Professional Certificate capstone labs; SpaceX API and Wikipedia launch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78463" y="6437376"/>
            <a:ext cx="530352" cy="347472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350447" y="6400800"/>
            <a:ext cx="758952" cy="429768"/>
          </a:xfrm>
          <a:prstGeom prst="roundRect">
            <a:avLst/>
          </a:prstGeom>
          <a:solidFill>
            <a:srgbClr val="293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87607" y="6455664"/>
            <a:ext cx="530352" cy="329184"/>
          </a:xfrm>
          <a:prstGeom prst="roundRect">
            <a:avLst/>
          </a:prstGeom>
          <a:solidFill>
            <a:srgbClr val="23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39144" y="6419088"/>
            <a:ext cx="475488" cy="292608"/>
          </a:xfrm>
          <a:prstGeom prst="roundRect">
            <a:avLst/>
          </a:prstGeom>
          <a:solidFill>
            <a:srgbClr val="25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